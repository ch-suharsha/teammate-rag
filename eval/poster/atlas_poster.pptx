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32918400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068240" y="0"/>
            <a:ext cx="822960" cy="32918400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0"/>
            <a:ext cx="42245280" cy="475488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"/>
            <a:ext cx="4169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C000"/>
                </a:solidFill>
              </a:rPr>
              <a:t>San José State University  ·  College of Science  ·  Data Science M.S. Program (DATA 298B)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85800"/>
            <a:ext cx="41696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Atlas: AI-Powered Customer Support Agent
with Fine-Tuned Phi-4-mini and RAG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169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Thota Himaja Sree   ·   Rondla Chandana   ·   Patel Meetkumar   ·   Cheedalla Suharsha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4169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C000"/>
                </a:solidFill>
              </a:rPr>
              <a:t>Faculty Advisor: Prof. Simon Shim     ·     Team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645152"/>
            <a:ext cx="42245280" cy="10972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645152"/>
            <a:ext cx="43891200" cy="10972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5074920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5084064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1. Introduction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367528"/>
            <a:ext cx="13655039" cy="363931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7" y="5458968"/>
            <a:ext cx="13435583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333333"/>
                </a:solidFill>
              </a:rPr>
              <a:t>•  E-commerce platforms require scalable, intelligent customer support
•  Rule-based chatbots fail on long-tail queries and nuanced language
•  LLMs offer fluent responses but hallucinate without grounding
•  Atlas combines fine-tuned SLM + RAG + deterministic tool routing
•  Goal: accurate, empathetic, grounded support — at small-model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9144000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9153144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2. Motivation &amp; Problem Statement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9436608"/>
            <a:ext cx="13655039" cy="203911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7" y="9528048"/>
            <a:ext cx="13435583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333333"/>
                </a:solidFill>
              </a:rPr>
              <a:t>•  Support tickets cost ~$5–15/contact; automation saves 40–70%
•  Customers demand instant resolution of order, refund, and policy queries
•  Challenge: hallucination, privacy (ID verification), latency, cost
•  Research question: Can a fine-tuned 3.8B SLM + RAG match GPT-4-class accuracy?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11612880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1288" y="11622024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3. Dataset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11905488"/>
            <a:ext cx="13655039" cy="1792223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7" y="11996928"/>
            <a:ext cx="13435583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333333"/>
                </a:solidFill>
              </a:rPr>
              <a:t>•  Amazon product catalog — 359K items (title, category, price, description)
•  Policy knowledge base — 45 hand-authored entries (returns, refunds, shipping)
•  Fine-tune corpus — 2,400 synthetic customer-support Q&amp;A pairs
•  Evaluation set — 50 hand-crafted test cases across 8 intent categories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14017751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14026895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4. System 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14310359"/>
            <a:ext cx="13655039" cy="4096511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7" y="14401799"/>
            <a:ext cx="13435583" cy="395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333333"/>
                </a:solidFill>
              </a:rPr>
              <a:t>•  FastAPI backend · PostgreSQL (orders, sessions) · Qdrant vector DB
•  HuggingFace Inference Endpoint hosting fine-tuned Phi-4-mini adapter
•  Retrieval: sentence-transformers/all-MiniLM-L6-v2 (384-dim) · top-6 cosine
•  Deterministic tool router (keyword/regex) — 8 tools:
•      lookup_order · process_refund · cancel_order · get_account_info
•      search_product/policy_knowledge · escalate_to_human · send_email
•  Identity verification gate — email/order-ID required before PII access
•  Two-layer LLM safety net: stall-detection + data-presence → template fallback
•  Frontend: vanilla JS chat UI · MailHog / Gmail SMTP email delivery
•  Deployment: Docker Compose  (api · postgres · qdrant · mailhog)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18589752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61288" y="18598896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5. Model Selection &amp; Fine-Tuning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18882360"/>
            <a:ext cx="13655039" cy="432511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7007" y="18973800"/>
            <a:ext cx="13435583" cy="418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333333"/>
                </a:solidFill>
              </a:rPr>
              <a:t>•  Evaluated 4 open-weight models on 20 qualitative prompts:
•    LLaMA-3.2-1B · SmolLM2-1.7B · Qwen2.5-1.5B · Phi-4-mini-instruct
•  Selected: Phi-4-mini-instruct (3.8B) — best instruction following &amp; tone
•  Fine-tune method: QLoRA (4-bit NF4 quantization) on Google Colab A100
•  Training data: 2,400 support Q&amp;A pairs · 3 epochs · batch 4 · lr 2e-4
•  Adapter uploaded to HuggingFace Hub; served on A10G GPU endpoint
•  Inference: vLLM-compatible · avg first-token latency ~3–5 s (warm)
•  Cold-start after idle auto-pause: 30–60 s warm-up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72359" y="5074920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136367" y="5084064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6. Evaluation Framework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72359" y="5367528"/>
            <a:ext cx="13655039" cy="41879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182087" y="5458968"/>
            <a:ext cx="13435583" cy="4050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333333"/>
                </a:solidFill>
              </a:rPr>
              <a:t>•  50 hand-crafted test cases spanning 8 intent categories:
•    order lookup · refund · cancellation · product recommendation
•    policy FAQ · escalation · account info · general greeting
•  Metrics:
•    • ROUGE-L — surface lexical overlap with reference answers
•    • Task Success Rate — binary: correct tool call + grounded response
•    • G-Eval (1–5) — Gemini 2.5 Flash as LLM judge across 5 dimensions:
•        Relevance · Faithfulness · Completeness · Tone &amp; Empathy · Groundedness
•  Identity-sensitive cases pre-seeded customer_id to bypass ID gate
•  Evaluation pipeline: evaluate.py · results stored in results.md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072359" y="9692640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136367" y="9701784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7. Overall Evaluation Results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072359" y="9985248"/>
            <a:ext cx="13655039" cy="3749039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182087" y="10076688"/>
            <a:ext cx="13435583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</a:rPr>
              <a:t>  Metric                        Score
  ─────────────────────────────────────
  ROUGE-L                       0.191
  Task Success Rate             72.3 %
  G-Eval Average (1–5)          3.79
  ─────────────────────────────────────
  Relevance                     4.24
  Tone &amp; Empathy                4.18
  Faithfulness                  3.78
  Groundedness                  3.44
  Completeness                  3.30
  ─────────────────────────────────────
  Best category: Escalation     4.80
  Weakest category: Cancellation 2.73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072359" y="14017751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136367" y="14026895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8. G-Eval Dimension Radar</a:t>
            </a:r>
          </a:p>
        </p:txBody>
      </p:sp>
      <p:pic>
        <p:nvPicPr>
          <p:cNvPr id="42" name="Picture 41" descr="1_radar_dimen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2359" y="14310359"/>
            <a:ext cx="13655039" cy="443484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15072359" y="18854928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136367" y="18864072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9. G-Eval Heatmap: Dimension × Category</a:t>
            </a:r>
          </a:p>
        </p:txBody>
      </p:sp>
      <p:pic>
        <p:nvPicPr>
          <p:cNvPr id="45" name="Picture 44" descr="5_heatmap_dim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2359" y="19147536"/>
            <a:ext cx="13655039" cy="4151375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15072359" y="23545799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136367" y="23554944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10. G-Eval by Intent Category</a:t>
            </a:r>
          </a:p>
        </p:txBody>
      </p:sp>
      <p:pic>
        <p:nvPicPr>
          <p:cNvPr id="48" name="Picture 47" descr="2_geval_by_categ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2359" y="23838407"/>
            <a:ext cx="13655039" cy="420624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15072359" y="28154375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136367" y="28163519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13. Conclusions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072359" y="28446983"/>
            <a:ext cx="13655039" cy="3648456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182087" y="28538423"/>
            <a:ext cx="13435583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333333"/>
                </a:solidFill>
              </a:rPr>
              <a:t>•  Fine-tuned Phi-4-mini + RAG achieves 72.3% task success on e-commerce support
•  Deterministic routing + template fallback critical for reliability (ROUGE-L limited)
•  Escalation best handled (4.80); cancellation most problematic (2.73)
•  Identity verification gate prevents data leakage with minimal UX friction
•  RAG grounding reduces hallucination vs. base LLM; re-ranking would further help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047439" y="5074920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111447" y="5084064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11. Task Success &amp; G-Eval by Category</a:t>
            </a:r>
          </a:p>
        </p:txBody>
      </p:sp>
      <p:pic>
        <p:nvPicPr>
          <p:cNvPr id="55" name="Picture 54" descr="3_dual_metric_by_categ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47439" y="5367528"/>
            <a:ext cx="13655039" cy="4251960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29047439" y="9729215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111447" y="9738359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12. Task Success vs G-Eval Score (per case)</a:t>
            </a:r>
          </a:p>
        </p:txBody>
      </p:sp>
      <p:pic>
        <p:nvPicPr>
          <p:cNvPr id="58" name="Picture 57" descr="4_scatter_task_vs_gev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47439" y="10021824"/>
            <a:ext cx="13655039" cy="3794759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29047439" y="14017751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111447" y="14026895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Summary Dashboard</a:t>
            </a:r>
          </a:p>
        </p:txBody>
      </p:sp>
      <p:pic>
        <p:nvPicPr>
          <p:cNvPr id="61" name="Picture 60" descr="8_summary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47439" y="14310359"/>
            <a:ext cx="13655039" cy="8988551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29047439" y="23545799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111447" y="23554944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14. Future Work &amp; Limitations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047439" y="23838407"/>
            <a:ext cx="13655039" cy="359359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157167" y="23929848"/>
            <a:ext cx="13435583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333333"/>
                </a:solidFill>
              </a:rPr>
              <a:t>•  Deploy no-RAG baseline (Variant B) for direct ablation comparison
•  Add cross-encoder re-ranking over Qdrant top-k results
•  Streaming responses (Server-Sent Events) to reduce perceived latency
•  Stronger identity verification: OTP or OAuth2 instead of email-only
•  Multi-turn context compression for conversations &gt; 10 turns
•  Cancellation flow refinement — communicate post-delivery return path
•  Mobile-responsive frontend and persistent session storage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047439" y="27550871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111447" y="27560015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15. References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047439" y="27843479"/>
            <a:ext cx="13655039" cy="203911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157167" y="27934919"/>
            <a:ext cx="13435583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</a:rPr>
              <a:t>[1] Dettmers et al. (2023). QLoRA: Efficient Finetuning of Quantized LLMs. NeurIPS.
[2] Lewis et al. (2020). Retrieval-Augmented Generation for Knowledge-Intensive NLP. NeurIPS.
[3] Liu et al. (2023). G-Eval: NLG Evaluation using GPT-4 with Better Human Alignment. EMNLP.
[4] Microsoft Phi-4-mini-instruct. HuggingFace Hub, 2024.
[5] Amazon Product Reviews Dataset (2023). Kaggle.
[6] Sentence-Transformers: all-MiniLM-L6-v2. HuggingFace, 2021.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047439" y="30001463"/>
            <a:ext cx="13655039" cy="292608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111447" y="30010607"/>
            <a:ext cx="135270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Acknowledgements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047439" y="30294071"/>
            <a:ext cx="13655039" cy="-14575535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157167" y="30385511"/>
            <a:ext cx="13435583" cy="-14712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We thank Prof. Simon Shim for guidance throughout DATA 298B.
Google Colab provided A100 GPU access for fine-tuning experiments.
HuggingFace Inference Endpoints (A10G) hosted the production model.
GitHub: github.com/Ch-Suharsha/teammate-rag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" y="32278319"/>
            <a:ext cx="42245280" cy="64008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97280" y="32369760"/>
            <a:ext cx="4169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000"/>
                </a:solidFill>
              </a:rPr>
              <a:t>DATA 298B Master's Project  ·  San José State University  ·  Spring 2025  ·  Advisor: Prof. Simon Shim  ·  github.com/Ch-Suharsha/teammate-rag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